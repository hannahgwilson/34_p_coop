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9"/>
    <p:restoredTop sz="94807"/>
  </p:normalViewPr>
  <p:slideViewPr>
    <p:cSldViewPr snapToGrid="0" snapToObjects="1">
      <p:cViewPr varScale="1">
        <p:scale>
          <a:sx n="97" d="100"/>
          <a:sy n="97" d="100"/>
        </p:scale>
        <p:origin x="1392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nah/Library/CloudStorage/GoogleDrive-hwilson34plaza@gmail.com/My%20Drive/2026%20Annual%20Meeting/Financial%20Update%20-%20Source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328"/>
                </a:solidFill>
                <a:latin typeface="Georgia"/>
              </a:rPr>
              <a:t>Reserve fund composition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Unrestricted</c:v>
                </c:pt>
              </c:strCache>
            </c:strRef>
          </c:tx>
          <c:spPr>
            <a:solidFill>
              <a:srgbClr val="1E5A8C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 YE</c:v>
                </c:pt>
                <c:pt idx="1">
                  <c:v>2025 YE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500088</c:v>
                </c:pt>
                <c:pt idx="1">
                  <c:v>444633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9BE-DA45-872A-752A96FDBE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Deferred (earmarked)</c:v>
                </c:pt>
              </c:strCache>
            </c:strRef>
          </c:tx>
          <c:spPr>
            <a:solidFill>
              <a:srgbClr val="D97706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 YE</c:v>
                </c:pt>
                <c:pt idx="1">
                  <c:v>2025 YE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697112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9BE-DA45-872A-752A96FDBE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 b="1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328"/>
                </a:solidFill>
                <a:latin typeface="Georgia"/>
              </a:rPr>
              <a:t>Operating expenses by major category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Payroll &amp; Related</c:v>
                </c:pt>
              </c:strCache>
            </c:strRef>
          </c:tx>
          <c:spPr>
            <a:solidFill>
              <a:srgbClr val="1E5A8C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Actual</c:v>
                </c:pt>
                <c:pt idx="1">
                  <c:v>2025 Actual</c:v>
                </c:pt>
                <c:pt idx="2">
                  <c:v>2026 Projected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835207</c:v>
                </c:pt>
                <c:pt idx="1">
                  <c:v>859897</c:v>
                </c:pt>
                <c:pt idx="2">
                  <c:v>913118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56E-BB4B-8CB3-20672C1141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estate taxes</c:v>
                </c:pt>
              </c:strCache>
            </c:strRef>
          </c:tx>
          <c:spPr>
            <a:solidFill>
              <a:srgbClr val="60A5FA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Actual</c:v>
                </c:pt>
                <c:pt idx="1">
                  <c:v>2025 Actual</c:v>
                </c:pt>
                <c:pt idx="2">
                  <c:v>2026 Projected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965429</c:v>
                </c:pt>
                <c:pt idx="1">
                  <c:v>990837</c:v>
                </c:pt>
                <c:pt idx="2">
                  <c:v>1010878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56E-BB4B-8CB3-20672C1141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Prof. fees / permits / ins</c:v>
                </c:pt>
              </c:strCache>
            </c:strRef>
          </c:tx>
          <c:spPr>
            <a:solidFill>
              <a:srgbClr val="10804A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Actual</c:v>
                </c:pt>
                <c:pt idx="1">
                  <c:v>2025 Actual</c:v>
                </c:pt>
                <c:pt idx="2">
                  <c:v>2026 Projected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252667</c:v>
                </c:pt>
                <c:pt idx="1">
                  <c:v>288340</c:v>
                </c:pt>
                <c:pt idx="2">
                  <c:v>291441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56E-BB4B-8CB3-20672C11419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R&amp;M</c:v>
                </c:pt>
              </c:strCache>
            </c:strRef>
          </c:tx>
          <c:spPr>
            <a:solidFill>
              <a:srgbClr val="D97706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Actual</c:v>
                </c:pt>
                <c:pt idx="1">
                  <c:v>2025 Actual</c:v>
                </c:pt>
                <c:pt idx="2">
                  <c:v>2026 Projected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224112</c:v>
                </c:pt>
                <c:pt idx="1">
                  <c:v>240356</c:v>
                </c:pt>
                <c:pt idx="2">
                  <c:v>213616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E56E-BB4B-8CB3-20672C11419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Utilities</c:v>
                </c:pt>
              </c:strCache>
            </c:strRef>
          </c:tx>
          <c:spPr>
            <a:solidFill>
              <a:srgbClr val="C4B5FD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Actual</c:v>
                </c:pt>
                <c:pt idx="1">
                  <c:v>2025 Actual</c:v>
                </c:pt>
                <c:pt idx="2">
                  <c:v>2026 Projected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216955</c:v>
                </c:pt>
                <c:pt idx="1">
                  <c:v>199362</c:v>
                </c:pt>
                <c:pt idx="2">
                  <c:v>211622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E56E-BB4B-8CB3-20672C11419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Financial (mortgage)</c:v>
                </c:pt>
              </c:strCache>
            </c:strRef>
          </c:tx>
          <c:spPr>
            <a:solidFill>
              <a:srgbClr val="9CA3AF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Actual</c:v>
                </c:pt>
                <c:pt idx="1">
                  <c:v>2025 Actual</c:v>
                </c:pt>
                <c:pt idx="2">
                  <c:v>2026 Projected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184200</c:v>
                </c:pt>
                <c:pt idx="1">
                  <c:v>183697</c:v>
                </c:pt>
                <c:pt idx="2">
                  <c:v>183697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E56E-BB4B-8CB3-20672C11419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Supplies &amp; misc.</c:v>
                </c:pt>
              </c:strCache>
            </c:strRef>
          </c:tx>
          <c:spPr>
            <a:solidFill>
              <a:srgbClr val="CBD5E1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Actual</c:v>
                </c:pt>
                <c:pt idx="1">
                  <c:v>2025 Actual</c:v>
                </c:pt>
                <c:pt idx="2">
                  <c:v>2026 Projected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49891</c:v>
                </c:pt>
                <c:pt idx="1">
                  <c:v>52104</c:v>
                </c:pt>
                <c:pt idx="2">
                  <c:v>50575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E56E-BB4B-8CB3-20672C1141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 b="1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Shareholder</a:t>
            </a:r>
            <a:r>
              <a:rPr lang="en-US" baseline="0"/>
              <a:t> General Maintance Costs YOY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Slide4_MaintHistory!$E$5</c:f>
              <c:strCache>
                <c:ptCount val="1"/>
                <c:pt idx="0">
                  <c:v>Total Shareholder Cost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Slide4_MaintHistory!$A$6:$A$17</c:f>
              <c:numCache>
                <c:formatCode>0</c:formatCod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numCache>
            </c:numRef>
          </c:cat>
          <c:val>
            <c:numRef>
              <c:f>Slide4_MaintHistory!$E$6:$E$17</c:f>
              <c:numCache>
                <c:formatCode>\$0.00</c:formatCode>
                <c:ptCount val="12"/>
                <c:pt idx="0">
                  <c:v>26.38</c:v>
                </c:pt>
                <c:pt idx="1">
                  <c:v>27.58</c:v>
                </c:pt>
                <c:pt idx="2">
                  <c:v>28.83</c:v>
                </c:pt>
                <c:pt idx="3">
                  <c:v>30.1</c:v>
                </c:pt>
                <c:pt idx="4">
                  <c:v>31.07</c:v>
                </c:pt>
                <c:pt idx="5">
                  <c:v>32.620000000000005</c:v>
                </c:pt>
                <c:pt idx="6">
                  <c:v>34.900000000000006</c:v>
                </c:pt>
                <c:pt idx="7">
                  <c:v>36.32</c:v>
                </c:pt>
                <c:pt idx="8">
                  <c:v>38.119999999999997</c:v>
                </c:pt>
                <c:pt idx="9">
                  <c:v>40.03</c:v>
                </c:pt>
                <c:pt idx="10">
                  <c:v>45.150000000000006</c:v>
                </c:pt>
                <c:pt idx="11">
                  <c:v>47.61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D5-4449-8439-82D2256EA6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5710047"/>
        <c:axId val="845711759"/>
      </c:barChart>
      <c:lineChart>
        <c:grouping val="standard"/>
        <c:varyColors val="0"/>
        <c:ser>
          <c:idx val="1"/>
          <c:order val="1"/>
          <c:tx>
            <c:strRef>
              <c:f>Slide4_MaintHistory!$F$5</c:f>
              <c:strCache>
                <c:ptCount val="1"/>
                <c:pt idx="0">
                  <c:v>% Increase - 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3"/>
            <c:spPr>
              <a:solidFill>
                <a:schemeClr val="accent2"/>
              </a:solidFill>
              <a:ln w="9525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/>
            </c:spPr>
          </c:marker>
          <c:cat>
            <c:numRef>
              <c:f>Slide4_MaintHistory!$A$6:$A$17</c:f>
              <c:numCache>
                <c:formatCode>0</c:formatCod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numCache>
            </c:numRef>
          </c:cat>
          <c:val>
            <c:numRef>
              <c:f>Slide4_MaintHistory!$F$6:$F$17</c:f>
              <c:numCache>
                <c:formatCode>0.0%</c:formatCode>
                <c:ptCount val="12"/>
                <c:pt idx="0">
                  <c:v>0.05</c:v>
                </c:pt>
                <c:pt idx="1">
                  <c:v>4.5489006823350997E-2</c:v>
                </c:pt>
                <c:pt idx="2">
                  <c:v>4.5322697606961566E-2</c:v>
                </c:pt>
                <c:pt idx="3">
                  <c:v>4.4051335414498898E-2</c:v>
                </c:pt>
                <c:pt idx="4">
                  <c:v>3.2225913621262418E-2</c:v>
                </c:pt>
                <c:pt idx="5">
                  <c:v>4.9887351142581401E-2</c:v>
                </c:pt>
                <c:pt idx="6">
                  <c:v>6.9895769466584948E-2</c:v>
                </c:pt>
                <c:pt idx="7">
                  <c:v>4.0687679083094397E-2</c:v>
                </c:pt>
                <c:pt idx="8">
                  <c:v>4.9559471365638687E-2</c:v>
                </c:pt>
                <c:pt idx="9">
                  <c:v>5.0104931794333785E-2</c:v>
                </c:pt>
                <c:pt idx="10">
                  <c:v>0.12790407194604059</c:v>
                </c:pt>
                <c:pt idx="11">
                  <c:v>5.4485049833886898E-2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D5-4449-8439-82D2256EA6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5732015"/>
        <c:axId val="845725471"/>
      </c:lineChart>
      <c:catAx>
        <c:axId val="845710047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711759"/>
        <c:crosses val="autoZero"/>
        <c:auto val="1"/>
        <c:lblAlgn val="ctr"/>
        <c:lblOffset val="100"/>
        <c:noMultiLvlLbl val="0"/>
      </c:catAx>
      <c:valAx>
        <c:axId val="845711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710047"/>
        <c:crosses val="autoZero"/>
        <c:crossBetween val="between"/>
      </c:valAx>
      <c:valAx>
        <c:axId val="845725471"/>
        <c:scaling>
          <c:orientation val="minMax"/>
        </c:scaling>
        <c:delete val="0"/>
        <c:axPos val="r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732015"/>
        <c:crosses val="max"/>
        <c:crossBetween val="between"/>
      </c:valAx>
      <c:catAx>
        <c:axId val="845732015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84572547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328"/>
                </a:solidFill>
                <a:latin typeface="Georgia"/>
              </a:rPr>
              <a:t>Capital spending by year and category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</c:v>
                </c:pt>
              </c:strCache>
            </c:strRef>
          </c:tx>
          <c:spPr>
            <a:solidFill>
              <a:srgbClr val="9CA3AF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12976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CCF-924B-916D-A170FA4CB8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Sidewalks</c:v>
                </c:pt>
              </c:strCache>
            </c:strRef>
          </c:tx>
          <c:spPr>
            <a:solidFill>
              <a:srgbClr val="D97706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35000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CCF-924B-916D-A170FA4CB8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Commercial</c:v>
                </c:pt>
              </c:strCache>
            </c:strRef>
          </c:tx>
          <c:spPr>
            <a:solidFill>
              <a:srgbClr val="C4B5FD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25000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CCF-924B-916D-A170FA4CB8F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Garage</c:v>
                </c:pt>
              </c:strCache>
            </c:strRef>
          </c:tx>
          <c:spPr>
            <a:solidFill>
              <a:srgbClr val="60A5FA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44000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3CCF-924B-916D-A170FA4CB8F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Elevator</c:v>
                </c:pt>
              </c:strCache>
            </c:strRef>
          </c:tx>
          <c:spPr>
            <a:solidFill>
              <a:srgbClr val="1E5A8C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500000</c:v>
                </c:pt>
                <c:pt idx="1">
                  <c:v>500000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3CCF-924B-916D-A170FA4CB8F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Lobby</c:v>
                </c:pt>
              </c:strCache>
            </c:strRef>
          </c:tx>
          <c:spPr>
            <a:solidFill>
              <a:srgbClr val="10804A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200000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3CCF-924B-916D-A170FA4CB8F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G-Level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3CCF-924B-916D-A170FA4CB8F5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General maint.</c:v>
                </c:pt>
              </c:strCache>
            </c:strRef>
          </c:tx>
          <c:spPr>
            <a:solidFill>
              <a:srgbClr val="CBD5E1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75000</c:v>
                </c:pt>
                <c:pt idx="1">
                  <c:v>150000</c:v>
                </c:pt>
                <c:pt idx="2">
                  <c:v>150000</c:v>
                </c:pt>
                <c:pt idx="3">
                  <c:v>150000</c:v>
                </c:pt>
                <c:pt idx="4">
                  <c:v>150000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3CCF-924B-916D-A170FA4CB8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 b="1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328"/>
                </a:solidFill>
                <a:latin typeface="Georgia"/>
              </a:rPr>
              <a:t>Projected reserve vs. 3-month operating benchmark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Ending reserve</c:v>
                </c:pt>
              </c:strCache>
            </c:strRef>
          </c:tx>
          <c:spPr>
            <a:solidFill>
              <a:srgbClr val="1E5A8C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887462</c:v>
                </c:pt>
                <c:pt idx="1">
                  <c:v>544405</c:v>
                </c:pt>
                <c:pt idx="2">
                  <c:v>684983</c:v>
                </c:pt>
                <c:pt idx="3">
                  <c:v>638860</c:v>
                </c:pt>
                <c:pt idx="4">
                  <c:v>694954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85F-624A-9938-88AD146FA6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3-month benchmark</c:v>
                </c:pt>
              </c:strCache>
            </c:strRef>
          </c:tx>
          <c:spPr>
            <a:solidFill>
              <a:srgbClr val="CBDCEE"/>
            </a:solidFill>
          </c:spPr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562862</c:v>
                </c:pt>
                <c:pt idx="1">
                  <c:v>591005</c:v>
                </c:pt>
                <c:pt idx="2">
                  <c:v>620555</c:v>
                </c:pt>
                <c:pt idx="3">
                  <c:v>651583</c:v>
                </c:pt>
                <c:pt idx="4">
                  <c:v>684162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85F-624A-9938-88AD146FA6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 b="1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FBCA3-2E81-714E-A3CE-E4C5F7AD0788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50BF7-7C3C-154F-929D-801DD0899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7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50BF7-7C3C-154F-929D-801DD08993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46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0" y="0"/>
            <a:ext cx="725393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BDCEE"/>
                </a:solidFill>
                <a:latin typeface="Calibri"/>
              </a:rPr>
              <a:t>34 PLAZA OWNERS CORP.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CEE"/>
                </a:solidFill>
                <a:latin typeface="Calibri"/>
              </a:rPr>
              <a:t>2026 ANNUAL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Financial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BDCEE"/>
                </a:solidFill>
                <a:latin typeface="Calibri"/>
              </a:rPr>
              <a:t>Treasurer's report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630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5A8C"/>
                </a:solidFill>
                <a:latin typeface="Calibri"/>
              </a:rPr>
              <a:t>In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031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5A8C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39696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2025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670048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5A8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06624"/>
            <a:ext cx="5852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0" i="0" dirty="0">
                <a:solidFill>
                  <a:srgbClr val="1F2328"/>
                </a:solidFill>
                <a:latin typeface="Calibri"/>
              </a:rPr>
              <a:t>20</a:t>
            </a:r>
            <a:r>
              <a:rPr sz="1600" b="0" i="0" dirty="0">
                <a:solidFill>
                  <a:srgbClr val="1F2328"/>
                </a:solidFill>
                <a:latin typeface="Calibri"/>
              </a:rPr>
              <a:t>24 vs 2025 </a:t>
            </a:r>
            <a:r>
              <a:rPr lang="en-US" sz="1600" b="0" i="0" dirty="0">
                <a:solidFill>
                  <a:srgbClr val="1F2328"/>
                </a:solidFill>
                <a:latin typeface="Calibri"/>
              </a:rPr>
              <a:t>vs 2026</a:t>
            </a:r>
            <a:r>
              <a:rPr lang="en-US" sz="1600" dirty="0">
                <a:solidFill>
                  <a:srgbClr val="1F2328"/>
                </a:solidFill>
                <a:latin typeface="Calibri"/>
              </a:rPr>
              <a:t> Budget Overview</a:t>
            </a:r>
            <a:endParaRPr sz="1600" b="0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3236976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5A8C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73552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What's driving the 2026 increase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803904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5A8C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84048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Capital plan 2026–2030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70832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5A8C"/>
                </a:solidFill>
                <a:latin typeface="Georg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407408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Reserves &amp; the 2028 mortgage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93776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5A8C"/>
                </a:solidFill>
                <a:latin typeface="Georgia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974336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Summary &amp;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3796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34 Plaza Owners Corp.  ·  2026 Annual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5A8C"/>
                </a:solidFill>
                <a:latin typeface="Calibri"/>
              </a:rPr>
              <a:t>01  ·  2025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2025 operating income and expenses were within budget</a:t>
            </a:r>
            <a:endParaRPr sz="28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5379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34 Plaza Owners Corp.  ·  2026 Annual Meeting  ·  Treasurer's Financial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743200" cy="1783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320040" cy="45720"/>
          </a:xfrm>
          <a:prstGeom prst="rect">
            <a:avLst/>
          </a:prstGeom>
          <a:solidFill>
            <a:srgbClr val="1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Operating income (actual)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Georgia"/>
              </a:rPr>
              <a:t>$2.94M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vs $2.91M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5A8C"/>
                </a:solidFill>
                <a:latin typeface="Calibri"/>
              </a:rPr>
              <a:t>+$31K beat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783080"/>
            <a:ext cx="2743200" cy="1783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94760" y="1947672"/>
            <a:ext cx="3200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2057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Operating expenses (actual)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3774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Georgia"/>
              </a:rPr>
              <a:t>$3.07M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971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vs $2.91M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200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+$158K over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2743200" cy="1783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005072"/>
            <a:ext cx="320040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Operating cash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Georgia"/>
              </a:rPr>
              <a:t>($128K)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absorbed within reserves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no draw on capital reserves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840480"/>
            <a:ext cx="2743200" cy="1783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94760" y="4005072"/>
            <a:ext cx="320040" cy="45720"/>
          </a:xfrm>
          <a:prstGeom prst="rect">
            <a:avLst/>
          </a:prstGeom>
          <a:solidFill>
            <a:srgbClr val="1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4114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fund, YE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4348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Georgia"/>
              </a:rPr>
              <a:t>$1.14M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029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from $500K at YE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5257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0804A"/>
                </a:solidFill>
                <a:latin typeface="Calibri"/>
              </a:rPr>
              <a:t>+128%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583680" y="1783080"/>
          <a:ext cx="49377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6946232" y="1817759"/>
            <a:ext cx="4803808" cy="18879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5A8C"/>
                </a:solidFill>
                <a:latin typeface="Calibri"/>
              </a:rPr>
              <a:t>02  ·  Year-over-Year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Operating Budget Over Time</a:t>
            </a:r>
            <a:endParaRPr sz="28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5379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34 Plaza Owners Corp.  ·  2026 Annual Meeting  ·  Treasurer's Financial Update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513904"/>
              </p:ext>
            </p:extLst>
          </p:nvPr>
        </p:nvGraphicFramePr>
        <p:xfrm>
          <a:off x="548640" y="1783080"/>
          <a:ext cx="6156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59872" y="1965960"/>
            <a:ext cx="40832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i="0" dirty="0">
                <a:solidFill>
                  <a:srgbClr val="6B7280"/>
                </a:solidFill>
                <a:latin typeface="Calibri"/>
              </a:rPr>
              <a:t>2024 -&gt; 2025 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TOTAL OPERATING EXPENSES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872" y="2095650"/>
            <a:ext cx="408323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F2328"/>
                </a:solidFill>
                <a:latin typeface="Georgia"/>
              </a:rPr>
              <a:t>$2.73M → $2.81M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872" y="2413245"/>
            <a:ext cx="40832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Calibri"/>
              </a:rPr>
              <a:t>+$86K year-over-year (+3.2%)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3725" y="2695258"/>
            <a:ext cx="2176633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D97706"/>
                </a:solidFill>
                <a:latin typeface="Calibri"/>
              </a:rPr>
              <a:t>BIGGEST GAINERS 2024 →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3725" y="2967123"/>
            <a:ext cx="2801168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Prof. fees &amp; insurance  +$36K  (+14%)</a:t>
            </a:r>
          </a:p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Real estate taxes  +$25K  (+3%)</a:t>
            </a:r>
          </a:p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Payroll &amp; related  +$25K  (+3%)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6232" y="4130681"/>
            <a:ext cx="4803808" cy="1828961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34101" y="2921404"/>
            <a:ext cx="2072359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Utilities  −$18K  (−8%)</a:t>
            </a:r>
          </a:p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Financial costs  flat</a:t>
            </a:r>
          </a:p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Boiler/heating fuel mix improved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B19FCD-B060-1F8E-32AF-BA17356EAFCF}"/>
              </a:ext>
            </a:extLst>
          </p:cNvPr>
          <p:cNvSpPr txBox="1"/>
          <p:nvPr/>
        </p:nvSpPr>
        <p:spPr>
          <a:xfrm>
            <a:off x="9426882" y="2695258"/>
            <a:ext cx="2176633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dirty="0">
                <a:solidFill>
                  <a:srgbClr val="D97706"/>
                </a:solidFill>
                <a:latin typeface="Calibri"/>
              </a:rPr>
              <a:t>LARGEST SAVINGS </a:t>
            </a:r>
            <a:r>
              <a:rPr sz="1000" b="1" i="0" dirty="0">
                <a:solidFill>
                  <a:srgbClr val="D97706"/>
                </a:solidFill>
                <a:latin typeface="Calibri"/>
              </a:rPr>
              <a:t>202</a:t>
            </a:r>
            <a:r>
              <a:rPr lang="en-US" sz="1000" b="1" dirty="0">
                <a:solidFill>
                  <a:srgbClr val="D97706"/>
                </a:solidFill>
                <a:latin typeface="Calibri"/>
              </a:rPr>
              <a:t>4</a:t>
            </a:r>
            <a:r>
              <a:rPr lang="en-US" sz="1000" b="1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000" b="1" i="0" dirty="0">
                <a:solidFill>
                  <a:srgbClr val="D97706"/>
                </a:solidFill>
                <a:latin typeface="Calibri"/>
              </a:rPr>
              <a:t>→ 202</a:t>
            </a:r>
            <a:r>
              <a:rPr lang="en-US" sz="1000" b="1" dirty="0">
                <a:solidFill>
                  <a:srgbClr val="D97706"/>
                </a:solidFill>
                <a:latin typeface="Calibri"/>
              </a:rPr>
              <a:t>5</a:t>
            </a:r>
            <a:endParaRPr sz="1000" b="1" i="0" dirty="0">
              <a:solidFill>
                <a:srgbClr val="D97706"/>
              </a:solidFill>
              <a:latin typeface="Calibri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D53BF3-87D7-A4F1-6D40-7B59C99E01FF}"/>
              </a:ext>
            </a:extLst>
          </p:cNvPr>
          <p:cNvCxnSpPr>
            <a:cxnSpLocks/>
          </p:cNvCxnSpPr>
          <p:nvPr/>
        </p:nvCxnSpPr>
        <p:spPr>
          <a:xfrm>
            <a:off x="9280358" y="2695258"/>
            <a:ext cx="0" cy="779696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34496A-750A-825D-C143-4EFC25A3A335}"/>
              </a:ext>
            </a:extLst>
          </p:cNvPr>
          <p:cNvSpPr txBox="1"/>
          <p:nvPr/>
        </p:nvSpPr>
        <p:spPr>
          <a:xfrm>
            <a:off x="7115356" y="5020611"/>
            <a:ext cx="2176633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EXPECTED </a:t>
            </a:r>
            <a:r>
              <a:rPr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GAINERS 202</a:t>
            </a:r>
            <a:r>
              <a:rPr lang="en-US"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5</a:t>
            </a:r>
            <a:r>
              <a:rPr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→ 202</a:t>
            </a:r>
            <a:r>
              <a:rPr lang="en-US"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6</a:t>
            </a:r>
            <a:endParaRPr sz="1000" b="1" i="0" dirty="0">
              <a:solidFill>
                <a:schemeClr val="accent3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EA6FB5-2109-88FD-B361-CBDB8009CFD8}"/>
              </a:ext>
            </a:extLst>
          </p:cNvPr>
          <p:cNvSpPr txBox="1"/>
          <p:nvPr/>
        </p:nvSpPr>
        <p:spPr>
          <a:xfrm>
            <a:off x="7115356" y="5288130"/>
            <a:ext cx="280116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Payroll &amp; related  +$</a:t>
            </a:r>
            <a:r>
              <a:rPr lang="en-US" sz="1100" dirty="0">
                <a:solidFill>
                  <a:srgbClr val="1F2328"/>
                </a:solidFill>
                <a:latin typeface="Calibri"/>
              </a:rPr>
              <a:t>53</a:t>
            </a:r>
            <a:r>
              <a:rPr sz="1100" b="0" i="0" dirty="0">
                <a:solidFill>
                  <a:srgbClr val="1F2328"/>
                </a:solidFill>
                <a:latin typeface="Calibri"/>
              </a:rPr>
              <a:t>K  (+</a:t>
            </a:r>
            <a:r>
              <a:rPr lang="en-US" sz="1100" dirty="0">
                <a:solidFill>
                  <a:srgbClr val="1F2328"/>
                </a:solidFill>
                <a:latin typeface="Calibri"/>
              </a:rPr>
              <a:t>6</a:t>
            </a:r>
            <a:r>
              <a:rPr sz="1100" b="0" i="0" dirty="0">
                <a:solidFill>
                  <a:srgbClr val="1F2328"/>
                </a:solidFill>
                <a:latin typeface="Calibri"/>
              </a:rPr>
              <a:t>%)</a:t>
            </a:r>
            <a:endParaRPr lang="en-US" sz="1100" b="0" i="0" dirty="0">
              <a:solidFill>
                <a:srgbClr val="1F2328"/>
              </a:solidFill>
              <a:latin typeface="Calibri"/>
            </a:endParaRPr>
          </a:p>
          <a:p>
            <a:pPr algn="l"/>
            <a:r>
              <a:rPr lang="en-US" sz="1100" b="0" i="0" dirty="0">
                <a:solidFill>
                  <a:srgbClr val="1F2328"/>
                </a:solidFill>
                <a:latin typeface="Calibri"/>
              </a:rPr>
              <a:t>Utilities +12.3k (+6%)</a:t>
            </a:r>
            <a:endParaRPr sz="1100" b="0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9EFDAA-D25D-E61B-A73E-2EEC1B7CBE23}"/>
              </a:ext>
            </a:extLst>
          </p:cNvPr>
          <p:cNvSpPr txBox="1"/>
          <p:nvPr/>
        </p:nvSpPr>
        <p:spPr>
          <a:xfrm>
            <a:off x="9445731" y="5246757"/>
            <a:ext cx="230430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1F2328"/>
                </a:solidFill>
                <a:latin typeface="Calibri"/>
              </a:rPr>
              <a:t>Repairs &amp; Maintenance</a:t>
            </a:r>
            <a:r>
              <a:rPr sz="1100" b="0" i="0" dirty="0">
                <a:solidFill>
                  <a:srgbClr val="1F2328"/>
                </a:solidFill>
                <a:latin typeface="Calibri"/>
              </a:rPr>
              <a:t>  −$</a:t>
            </a:r>
            <a:r>
              <a:rPr lang="en-US" sz="1100" dirty="0">
                <a:solidFill>
                  <a:srgbClr val="1F2328"/>
                </a:solidFill>
                <a:latin typeface="Calibri"/>
              </a:rPr>
              <a:t>27</a:t>
            </a:r>
            <a:r>
              <a:rPr sz="1100" b="0" i="0" dirty="0">
                <a:solidFill>
                  <a:srgbClr val="1F2328"/>
                </a:solidFill>
                <a:latin typeface="Calibri"/>
              </a:rPr>
              <a:t>K  (−</a:t>
            </a:r>
            <a:r>
              <a:rPr lang="en-US" sz="1100" b="0" i="0" dirty="0">
                <a:solidFill>
                  <a:srgbClr val="1F2328"/>
                </a:solidFill>
                <a:latin typeface="Calibri"/>
              </a:rPr>
              <a:t>11</a:t>
            </a:r>
            <a:r>
              <a:rPr sz="1100" b="0" i="0" dirty="0">
                <a:solidFill>
                  <a:srgbClr val="1F2328"/>
                </a:solidFill>
                <a:latin typeface="Calibri"/>
              </a:rPr>
              <a:t>%)</a:t>
            </a:r>
            <a:endParaRPr lang="en-US" sz="1100" b="0" i="0" dirty="0">
              <a:solidFill>
                <a:srgbClr val="1F2328"/>
              </a:solidFill>
              <a:latin typeface="Calibri"/>
            </a:endParaRPr>
          </a:p>
          <a:p>
            <a:pPr algn="l"/>
            <a:r>
              <a:rPr lang="en-US" sz="1100" dirty="0">
                <a:solidFill>
                  <a:srgbClr val="1F2328"/>
                </a:solidFill>
                <a:latin typeface="Calibri"/>
              </a:rPr>
              <a:t>Supplies &amp; Mis -1.5k (-3%)</a:t>
            </a:r>
            <a:endParaRPr sz="1100" b="0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9EE0A9-B24D-7A95-42A1-150E441E5B27}"/>
              </a:ext>
            </a:extLst>
          </p:cNvPr>
          <p:cNvSpPr txBox="1"/>
          <p:nvPr/>
        </p:nvSpPr>
        <p:spPr>
          <a:xfrm>
            <a:off x="9438513" y="5020611"/>
            <a:ext cx="2176633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LARGEST SAVINGS </a:t>
            </a:r>
            <a:r>
              <a:rPr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202</a:t>
            </a:r>
            <a:r>
              <a:rPr lang="en-US"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5 </a:t>
            </a:r>
            <a:r>
              <a:rPr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→ 202</a:t>
            </a:r>
            <a:r>
              <a:rPr lang="en-US" sz="10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6</a:t>
            </a:r>
            <a:endParaRPr sz="1000" b="1" i="0" dirty="0">
              <a:solidFill>
                <a:schemeClr val="accent3">
                  <a:lumMod val="50000"/>
                </a:schemeClr>
              </a:solidFill>
              <a:latin typeface="Calibri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6172AF-09C1-48D4-B38E-AF0B882A5613}"/>
              </a:ext>
            </a:extLst>
          </p:cNvPr>
          <p:cNvCxnSpPr>
            <a:cxnSpLocks/>
          </p:cNvCxnSpPr>
          <p:nvPr/>
        </p:nvCxnSpPr>
        <p:spPr>
          <a:xfrm>
            <a:off x="9291989" y="5020611"/>
            <a:ext cx="0" cy="738505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683F40A-8410-5AB9-048D-89D6EC48623A}"/>
              </a:ext>
            </a:extLst>
          </p:cNvPr>
          <p:cNvSpPr txBox="1"/>
          <p:nvPr/>
        </p:nvSpPr>
        <p:spPr>
          <a:xfrm>
            <a:off x="7159872" y="4225038"/>
            <a:ext cx="40832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i="0" dirty="0">
                <a:solidFill>
                  <a:srgbClr val="6B7280"/>
                </a:solidFill>
                <a:latin typeface="Calibri"/>
              </a:rPr>
              <a:t>2025 -&gt; 2026 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TOTAL OPERATING EXPENSES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5ABBBA-29A9-05E2-011D-28025D9FF530}"/>
              </a:ext>
            </a:extLst>
          </p:cNvPr>
          <p:cNvSpPr txBox="1"/>
          <p:nvPr/>
        </p:nvSpPr>
        <p:spPr>
          <a:xfrm>
            <a:off x="7159872" y="4354728"/>
            <a:ext cx="408323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F2328"/>
                </a:solidFill>
                <a:latin typeface="Georgia"/>
              </a:rPr>
              <a:t>$2.</a:t>
            </a:r>
            <a:r>
              <a:rPr lang="en-US" sz="2000" b="1" i="0" dirty="0">
                <a:solidFill>
                  <a:srgbClr val="1F2328"/>
                </a:solidFill>
                <a:latin typeface="Georgia"/>
              </a:rPr>
              <a:t>81</a:t>
            </a:r>
            <a:r>
              <a:rPr sz="2000" b="1" i="0" dirty="0">
                <a:solidFill>
                  <a:srgbClr val="1F2328"/>
                </a:solidFill>
                <a:latin typeface="Georgia"/>
              </a:rPr>
              <a:t>M → $2.8</a:t>
            </a:r>
            <a:r>
              <a:rPr lang="en-US" sz="2000" b="1" dirty="0">
                <a:solidFill>
                  <a:srgbClr val="1F2328"/>
                </a:solidFill>
                <a:latin typeface="Georgia"/>
              </a:rPr>
              <a:t>8</a:t>
            </a:r>
            <a:r>
              <a:rPr sz="2000" b="1" i="0" dirty="0">
                <a:solidFill>
                  <a:srgbClr val="1F2328"/>
                </a:solidFill>
                <a:latin typeface="Georgia"/>
              </a:rPr>
              <a:t>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78C8F2-27B3-586A-23C5-D3D839A3222C}"/>
              </a:ext>
            </a:extLst>
          </p:cNvPr>
          <p:cNvSpPr txBox="1"/>
          <p:nvPr/>
        </p:nvSpPr>
        <p:spPr>
          <a:xfrm>
            <a:off x="7159872" y="4672323"/>
            <a:ext cx="40832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Calibri"/>
              </a:rPr>
              <a:t>+$86K year-over-year (+</a:t>
            </a:r>
            <a:r>
              <a:rPr lang="en-US" sz="1200" b="0" i="1" dirty="0">
                <a:solidFill>
                  <a:srgbClr val="6B7280"/>
                </a:solidFill>
                <a:latin typeface="Calibri"/>
              </a:rPr>
              <a:t>2</a:t>
            </a:r>
            <a:r>
              <a:rPr sz="1200" b="0" i="1" dirty="0">
                <a:solidFill>
                  <a:srgbClr val="6B7280"/>
                </a:solidFill>
                <a:latin typeface="Calibri"/>
              </a:rPr>
              <a:t>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5A8C"/>
                </a:solidFill>
                <a:latin typeface="Calibri"/>
              </a:rPr>
              <a:t>03  ·  Cost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F2328"/>
                </a:solidFill>
                <a:latin typeface="Georgia"/>
              </a:rPr>
              <a:t>Maintenance increase from 2025 to 2026 aligns with historical trend</a:t>
            </a:r>
            <a:endParaRPr sz="24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5379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34 Plaza Owners Corp.  ·  2026 Annual Meeting  ·  Treasurer's Financial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64008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9476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D97706"/>
                </a:solidFill>
                <a:latin typeface="Georgia"/>
              </a:rPr>
              <a:t>+10%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134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to $158K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7063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F2328"/>
                </a:solidFill>
                <a:latin typeface="Calibri"/>
              </a:rPr>
              <a:t>Umbrella + excess layers +101% · D&amp;O +20% · hard NYC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520440"/>
            <a:ext cx="64008" cy="1005840"/>
          </a:xfrm>
          <a:prstGeom prst="rect">
            <a:avLst/>
          </a:prstGeom>
          <a:solidFill>
            <a:srgbClr val="1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5021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Payroll &amp; related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9476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5A8C"/>
                </a:solidFill>
                <a:latin typeface="Georgia"/>
              </a:rPr>
              <a:t>+6.2%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8679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to $913K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2511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F2328"/>
                </a:solidFill>
                <a:latin typeface="Calibri"/>
              </a:rPr>
              <a:t>32BJ union contract expires April 20, 2026; same step pattern assumed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5074920"/>
            <a:ext cx="64008" cy="10058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056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Real estate taxes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3492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6B7280"/>
                </a:solidFill>
                <a:latin typeface="Georgia"/>
              </a:rPr>
              <a:t>+2.0%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42239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to $1.01M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87959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F2328"/>
                </a:solidFill>
                <a:latin typeface="Calibri"/>
              </a:rPr>
              <a:t>Net of $194K abatement · co-op abatement extended through June 30,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76672"/>
            <a:ext cx="53035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i="1" dirty="0">
                <a:solidFill>
                  <a:srgbClr val="6B7280"/>
                </a:solidFill>
              </a:rPr>
              <a:t>Between 2015-&gt; 2021 there was a $2.50 per share Loan Assessment.</a:t>
            </a:r>
            <a:endParaRPr lang="en-US" sz="1000" i="1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lang="en-US" sz="1000" i="1" dirty="0">
                <a:solidFill>
                  <a:srgbClr val="6B7280"/>
                </a:solidFill>
                <a:latin typeface="Calibri"/>
              </a:rPr>
              <a:t>In 2021 there was a special operating assessment for COVID relief. </a:t>
            </a:r>
          </a:p>
          <a:p>
            <a:pPr algn="l"/>
            <a:r>
              <a:rPr lang="en-US" sz="1000" i="1" dirty="0">
                <a:solidFill>
                  <a:srgbClr val="6B7280"/>
                </a:solidFill>
                <a:latin typeface="Calibri"/>
              </a:rPr>
              <a:t>In 2025, we</a:t>
            </a:r>
            <a:r>
              <a:rPr lang="en-US" sz="1000" b="0" i="1" dirty="0">
                <a:solidFill>
                  <a:srgbClr val="6B7280"/>
                </a:solidFill>
                <a:latin typeface="Calibri"/>
              </a:rPr>
              <a:t> introduced the capital contribution that will be used to cover ongoing repairs, maintenance, &amp; capital investments. </a:t>
            </a:r>
            <a:endParaRPr sz="1000" b="0" i="1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8400AFAA-F1CC-E28E-4070-9D1713622E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1785171"/>
              </p:ext>
            </p:extLst>
          </p:nvPr>
        </p:nvGraphicFramePr>
        <p:xfrm>
          <a:off x="6361329" y="2402811"/>
          <a:ext cx="5342991" cy="2906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5A8C"/>
                </a:solidFill>
                <a:latin typeface="Calibri"/>
              </a:rPr>
              <a:t>04  ·  Capital Plan 2026–2030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5 year capital plan for 34 Plaza</a:t>
            </a:r>
            <a:endParaRPr sz="28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5379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34 Plaza Owners Corp.  ·  2026 Annual Meeting  ·  Treasurer's Financial Update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830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1783079"/>
            <a:ext cx="4023360" cy="4524947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0999" y="1864924"/>
            <a:ext cx="34747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dirty="0">
                <a:solidFill>
                  <a:srgbClr val="1F2328"/>
                </a:solidFill>
                <a:latin typeface="Georgia"/>
              </a:rPr>
              <a:t>Upcoming Project List &amp; Decisions Made</a:t>
            </a:r>
            <a:endParaRPr sz="1600" b="1" i="0" dirty="0">
              <a:solidFill>
                <a:srgbClr val="1F2328"/>
              </a:solidFill>
              <a:latin typeface="Georg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2604" y="272745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>
                <a:solidFill>
                  <a:srgbClr val="1F2328"/>
                </a:solidFill>
                <a:latin typeface="Calibri"/>
              </a:rPr>
              <a:t>Sidewalks structurally sound; tile-level fix preserves elevator funding.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04" y="3562991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F2328"/>
                </a:solidFill>
                <a:latin typeface="Georgia"/>
              </a:rPr>
              <a:t>2026 / 2027: Elevators</a:t>
            </a:r>
            <a:endParaRPr sz="1600" b="1" i="0" dirty="0">
              <a:solidFill>
                <a:srgbClr val="1F2328"/>
              </a:solidFill>
              <a:latin typeface="Georg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2604" y="3861063"/>
            <a:ext cx="3474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 dirty="0">
                <a:solidFill>
                  <a:srgbClr val="1F2328"/>
                </a:solidFill>
                <a:latin typeface="Calibri"/>
              </a:rPr>
              <a:t>Extended life of existing system to reduce near-term capital</a:t>
            </a:r>
            <a:r>
              <a:rPr lang="en-US" sz="1000" i="1" dirty="0">
                <a:solidFill>
                  <a:srgbClr val="1F2328"/>
                </a:solidFill>
              </a:rPr>
              <a:t> pressure. RFP launches this summer; build over next 12–18 months.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04" y="42145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5A8C"/>
                </a:solidFill>
                <a:latin typeface="Calibri"/>
              </a:rPr>
              <a:t>RFP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2604" y="4397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Georgia"/>
              </a:rPr>
              <a:t>Summer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1364" y="42145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5A8C"/>
                </a:solidFill>
                <a:latin typeface="Calibri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1364" y="4397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Georgia"/>
              </a:rPr>
              <a:t>12–18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1484" y="42145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5A8C"/>
                </a:solidFill>
                <a:latin typeface="Calibri"/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1484" y="439744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Georgia"/>
              </a:rPr>
              <a:t>$1.0M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C9F1AD-3D35-F2CC-26A4-1811B7BAB0F1}"/>
              </a:ext>
            </a:extLst>
          </p:cNvPr>
          <p:cNvSpPr txBox="1"/>
          <p:nvPr/>
        </p:nvSpPr>
        <p:spPr>
          <a:xfrm>
            <a:off x="8001000" y="3099660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1E5A8C"/>
                </a:solidFill>
                <a:latin typeface="Calibri"/>
              </a:rPr>
              <a:t>Initial </a:t>
            </a:r>
            <a:r>
              <a:rPr lang="en-US" sz="900" b="1" dirty="0">
                <a:solidFill>
                  <a:srgbClr val="1E5A8C"/>
                </a:solidFill>
                <a:latin typeface="Calibri"/>
              </a:rPr>
              <a:t>Scope &amp; Bid</a:t>
            </a:r>
            <a:endParaRPr lang="en-US" sz="900" b="1" i="0" dirty="0">
              <a:solidFill>
                <a:srgbClr val="1E5A8C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ECCB77-927B-3058-3774-8E895F15768E}"/>
              </a:ext>
            </a:extLst>
          </p:cNvPr>
          <p:cNvSpPr txBox="1"/>
          <p:nvPr/>
        </p:nvSpPr>
        <p:spPr>
          <a:xfrm>
            <a:off x="8000999" y="3282540"/>
            <a:ext cx="20429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dirty="0">
                <a:solidFill>
                  <a:srgbClr val="1F2328"/>
                </a:solidFill>
                <a:latin typeface="Georgia"/>
              </a:rPr>
              <a:t>Full Sidewalks: $250k+</a:t>
            </a:r>
            <a:endParaRPr sz="1000" b="1" i="0" dirty="0">
              <a:solidFill>
                <a:srgbClr val="1F2328"/>
              </a:solidFill>
              <a:latin typeface="Georgi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593016-AD47-6343-7CBD-DB839F727BD9}"/>
              </a:ext>
            </a:extLst>
          </p:cNvPr>
          <p:cNvSpPr txBox="1"/>
          <p:nvPr/>
        </p:nvSpPr>
        <p:spPr>
          <a:xfrm>
            <a:off x="9739964" y="3099660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1E5A8C"/>
                </a:solidFill>
                <a:latin typeface="Calibri"/>
              </a:rPr>
              <a:t>Final  </a:t>
            </a:r>
            <a:r>
              <a:rPr lang="en-US" sz="900" b="1" dirty="0">
                <a:solidFill>
                  <a:srgbClr val="1E5A8C"/>
                </a:solidFill>
                <a:latin typeface="Calibri"/>
              </a:rPr>
              <a:t>Scope &amp; Bid</a:t>
            </a:r>
            <a:endParaRPr lang="en-US" sz="900" b="1" i="0" dirty="0">
              <a:solidFill>
                <a:srgbClr val="1E5A8C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0E67D0-D3DB-F124-054F-F35B7A0D3D01}"/>
              </a:ext>
            </a:extLst>
          </p:cNvPr>
          <p:cNvSpPr txBox="1"/>
          <p:nvPr/>
        </p:nvSpPr>
        <p:spPr>
          <a:xfrm>
            <a:off x="9739963" y="3282540"/>
            <a:ext cx="20429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dirty="0">
                <a:solidFill>
                  <a:srgbClr val="1F2328"/>
                </a:solidFill>
                <a:latin typeface="Georgia"/>
              </a:rPr>
              <a:t>Targeted Repair: $35k</a:t>
            </a:r>
            <a:endParaRPr sz="1000" b="1" i="0" dirty="0">
              <a:solidFill>
                <a:srgbClr val="1F2328"/>
              </a:solidFill>
              <a:latin typeface="Georgi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7C4747-E614-92EE-9E7D-8C873F72885B}"/>
              </a:ext>
            </a:extLst>
          </p:cNvPr>
          <p:cNvSpPr txBox="1"/>
          <p:nvPr/>
        </p:nvSpPr>
        <p:spPr>
          <a:xfrm>
            <a:off x="8000999" y="2437923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F2328"/>
                </a:solidFill>
                <a:latin typeface="Georgia"/>
              </a:rPr>
              <a:t>2026: Sidewalks</a:t>
            </a:r>
            <a:endParaRPr sz="1600" b="1" i="0" dirty="0">
              <a:solidFill>
                <a:srgbClr val="1F2328"/>
              </a:solidFill>
              <a:latin typeface="Georgi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69221B-427D-C5BB-6733-B92A046A2DD9}"/>
              </a:ext>
            </a:extLst>
          </p:cNvPr>
          <p:cNvSpPr txBox="1"/>
          <p:nvPr/>
        </p:nvSpPr>
        <p:spPr>
          <a:xfrm>
            <a:off x="7974529" y="4708552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F2328"/>
                </a:solidFill>
                <a:latin typeface="Georgia"/>
              </a:rPr>
              <a:t>2028+: Mortgage Refinancing</a:t>
            </a:r>
            <a:endParaRPr sz="1600" b="1" i="0" dirty="0">
              <a:solidFill>
                <a:srgbClr val="1F2328"/>
              </a:solidFill>
              <a:latin typeface="Georgi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F2877B-1920-D38D-F213-F76A10DD13CB}"/>
              </a:ext>
            </a:extLst>
          </p:cNvPr>
          <p:cNvSpPr txBox="1"/>
          <p:nvPr/>
        </p:nvSpPr>
        <p:spPr>
          <a:xfrm>
            <a:off x="7974529" y="5006624"/>
            <a:ext cx="3474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i="1" dirty="0">
                <a:solidFill>
                  <a:srgbClr val="1F2328"/>
                </a:solidFill>
                <a:latin typeface="Calibri"/>
              </a:rPr>
              <a:t>We need to refinance our mortgage ($5.61M at 3.55%) no later than 12/31/2028. Likely will face higher interest rates. </a:t>
            </a:r>
            <a:endParaRPr lang="en-US" sz="1000" i="1" dirty="0">
              <a:solidFill>
                <a:srgbClr val="1F2328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30A0850-1FA3-1ED0-7C45-7BC1EAB6FC7C}"/>
              </a:ext>
            </a:extLst>
          </p:cNvPr>
          <p:cNvCxnSpPr/>
          <p:nvPr/>
        </p:nvCxnSpPr>
        <p:spPr>
          <a:xfrm>
            <a:off x="7974529" y="3501891"/>
            <a:ext cx="3639956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B3FE46-A18A-9CC0-41B1-3D3F1C4588EF}"/>
              </a:ext>
            </a:extLst>
          </p:cNvPr>
          <p:cNvCxnSpPr/>
          <p:nvPr/>
        </p:nvCxnSpPr>
        <p:spPr>
          <a:xfrm>
            <a:off x="7992173" y="4660271"/>
            <a:ext cx="3639956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C81BD7F-A808-BEE8-8993-226BF8AC3B61}"/>
              </a:ext>
            </a:extLst>
          </p:cNvPr>
          <p:cNvSpPr txBox="1"/>
          <p:nvPr/>
        </p:nvSpPr>
        <p:spPr>
          <a:xfrm>
            <a:off x="7974529" y="5420534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F2328"/>
                </a:solidFill>
                <a:latin typeface="Georgia"/>
              </a:rPr>
              <a:t>2030+: FISP</a:t>
            </a:r>
            <a:endParaRPr sz="1600" b="1" i="0" dirty="0">
              <a:solidFill>
                <a:srgbClr val="1F2328"/>
              </a:solidFill>
              <a:latin typeface="Georgi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909670-C08E-3893-8653-0B9F488CE6C3}"/>
              </a:ext>
            </a:extLst>
          </p:cNvPr>
          <p:cNvSpPr txBox="1"/>
          <p:nvPr/>
        </p:nvSpPr>
        <p:spPr>
          <a:xfrm>
            <a:off x="7974529" y="5718606"/>
            <a:ext cx="34747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i="1" dirty="0">
                <a:solidFill>
                  <a:srgbClr val="1F2328"/>
                </a:solidFill>
                <a:latin typeface="Calibri"/>
              </a:rPr>
              <a:t>Decided to file in 2026 to extend our SAFE certification until 2030. Likely means we do not have to do significant façade work until 2030+</a:t>
            </a:r>
            <a:endParaRPr lang="en-US" sz="1000" i="1" dirty="0">
              <a:solidFill>
                <a:srgbClr val="1F2328"/>
              </a:solidFill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044044-1DC7-04FB-B63B-186078FF80D9}"/>
              </a:ext>
            </a:extLst>
          </p:cNvPr>
          <p:cNvCxnSpPr/>
          <p:nvPr/>
        </p:nvCxnSpPr>
        <p:spPr>
          <a:xfrm>
            <a:off x="7992173" y="5372253"/>
            <a:ext cx="3639956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5A8C"/>
                </a:solidFill>
                <a:latin typeface="Calibri"/>
              </a:rPr>
              <a:t>05  ·  Reserves &amp; the 2028 Mortgage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Current projection maintains a reserve </a:t>
            </a:r>
            <a:r>
              <a:rPr lang="en-US" sz="2800" b="1" dirty="0">
                <a:solidFill>
                  <a:srgbClr val="1F2328"/>
                </a:solidFill>
                <a:latin typeface="Georgia"/>
              </a:rPr>
              <a:t>fund around </a:t>
            </a:r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the 3 month benchmar</a:t>
            </a:r>
            <a:r>
              <a:rPr lang="en-US" sz="2800" b="1" dirty="0">
                <a:solidFill>
                  <a:srgbClr val="1F2328"/>
                </a:solidFill>
                <a:latin typeface="Georgia"/>
              </a:rPr>
              <a:t>k for the next 5 years. </a:t>
            </a:r>
            <a:endParaRPr sz="28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5379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34 Plaza Owners Corp.  ·  2026 Annual Meeting  ·  Treasurer's Financial Update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83080"/>
          <a:ext cx="7040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78308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9659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COVERAGE vs 3-MONTH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317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3317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0804A"/>
                </a:solidFill>
                <a:latin typeface="Georgia"/>
              </a:rPr>
              <a:t>158%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66090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66090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D97706"/>
                </a:solidFill>
                <a:latin typeface="Georgia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990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99008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0804A"/>
                </a:solidFill>
                <a:latin typeface="Georgia"/>
              </a:rPr>
              <a:t>110%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192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2029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3192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E5A8C"/>
                </a:solidFill>
                <a:latin typeface="Georgia"/>
              </a:rP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64845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64845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0804A"/>
                </a:solidFill>
                <a:latin typeface="Georgia"/>
              </a:rPr>
              <a:t>102%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297680"/>
            <a:ext cx="39319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4480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5A8C"/>
                </a:solidFill>
                <a:latin typeface="Calibri"/>
              </a:rPr>
              <a:t>THE REAL VARIABLE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7548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Georgia"/>
              </a:rPr>
              <a:t>2028 mortgage refi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257800"/>
            <a:ext cx="338328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$5.618M matures 12/1/2028 (Apple Bank, 3.225% IO).</a:t>
            </a:r>
          </a:p>
          <a:p>
            <a:pPr algn="l"/>
            <a:r>
              <a:rPr sz="1100" b="0" i="0" dirty="0">
                <a:solidFill>
                  <a:srgbClr val="1F2328"/>
                </a:solidFill>
                <a:latin typeface="Calibri"/>
              </a:rPr>
              <a:t>Every 1% of rate ≈ $56K/yr — roughly 1 point of maintenance.</a:t>
            </a:r>
          </a:p>
          <a:p>
            <a:pPr algn="l"/>
            <a:r>
              <a:rPr lang="en-US" sz="1100" b="0" i="0" dirty="0">
                <a:solidFill>
                  <a:srgbClr val="1F2328"/>
                </a:solidFill>
                <a:latin typeface="Calibri"/>
              </a:rPr>
              <a:t>Current interest rates sit at 6.5%. We are starting to plan for this increase now</a:t>
            </a:r>
            <a:r>
              <a:rPr sz="1100" b="0" i="0" dirty="0">
                <a:solidFill>
                  <a:srgbClr val="1F2328"/>
                </a:solidFill>
                <a:latin typeface="Calibri"/>
              </a:rPr>
              <a:t>.</a:t>
            </a:r>
            <a:endParaRPr lang="en-US" sz="1100" b="0" i="0" dirty="0">
              <a:solidFill>
                <a:srgbClr val="1F232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5A8C"/>
                </a:solidFill>
                <a:latin typeface="Calibri"/>
              </a:rPr>
              <a:t>06  ·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328"/>
                </a:solidFill>
                <a:latin typeface="Georgia"/>
              </a:rPr>
              <a:t>Three takeaways — and what's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5379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34 Plaza Owners Corp.  ·  2026 Annual Meeting  ·  Treasurer's Financial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E5A8C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328"/>
                </a:solidFill>
                <a:latin typeface="Calibri"/>
              </a:rPr>
              <a:t>Operations are healthy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94183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1F2328"/>
                </a:solidFill>
                <a:latin typeface="Calibri"/>
              </a:rPr>
              <a:t>2026 is budgeted to breakeven with a 5.5% maintenance increase — in line with the 11-year average.</a:t>
            </a:r>
            <a:r>
              <a:rPr lang="en-US" sz="1150" b="0" i="0" dirty="0">
                <a:solidFill>
                  <a:srgbClr val="1F2328"/>
                </a:solidFill>
                <a:latin typeface="Calibri"/>
              </a:rPr>
              <a:t> </a:t>
            </a:r>
            <a:endParaRPr sz="1150" b="0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E5A8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46120"/>
            <a:ext cx="9418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 dirty="0">
                <a:solidFill>
                  <a:srgbClr val="1F2328"/>
                </a:solidFill>
                <a:latin typeface="Calibri"/>
              </a:rPr>
              <a:t>Reserve fund is stable moving forward, based on the current planned projects. </a:t>
            </a:r>
            <a:endParaRPr sz="1500" b="1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611880"/>
            <a:ext cx="941832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0" i="0" dirty="0">
                <a:solidFill>
                  <a:srgbClr val="1F2328"/>
                </a:solidFill>
                <a:latin typeface="Calibri"/>
              </a:rPr>
              <a:t>Current reserves was set to cover the planned elevator project ($700k budget)</a:t>
            </a:r>
            <a:r>
              <a:rPr sz="1150" b="0" i="0" dirty="0">
                <a:solidFill>
                  <a:srgbClr val="1F2328"/>
                </a:solidFill>
                <a:latin typeface="Calibri"/>
              </a:rPr>
              <a:t>. </a:t>
            </a:r>
            <a:endParaRPr lang="en-US" sz="1150" b="0" i="0" dirty="0">
              <a:solidFill>
                <a:srgbClr val="1F2328"/>
              </a:solidFill>
              <a:latin typeface="Calibri"/>
            </a:endParaRPr>
          </a:p>
          <a:p>
            <a:pPr algn="l"/>
            <a:r>
              <a:rPr lang="en-US" sz="1150" dirty="0">
                <a:solidFill>
                  <a:srgbClr val="1F2328"/>
                </a:solidFill>
                <a:latin typeface="Calibri"/>
              </a:rPr>
              <a:t>The capital contribution (2026: $262.5k) is permanent funding to cover general building improvements to be funded out of the reserves. This should cover normal ware and tear from being an old building. </a:t>
            </a:r>
            <a:endParaRPr sz="1150" b="0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E5A8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26280"/>
            <a:ext cx="9418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 dirty="0">
                <a:solidFill>
                  <a:srgbClr val="1F2328"/>
                </a:solidFill>
                <a:latin typeface="Calibri"/>
              </a:rPr>
              <a:t>Major </a:t>
            </a:r>
            <a:r>
              <a:rPr lang="en-US" sz="1500" b="1" dirty="0">
                <a:solidFill>
                  <a:srgbClr val="1F2328"/>
                </a:solidFill>
                <a:latin typeface="Calibri"/>
              </a:rPr>
              <a:t>pieces of uncertainty are the final cost of the 2026 / 2027 </a:t>
            </a:r>
            <a:r>
              <a:rPr sz="1500" b="1" i="0" dirty="0">
                <a:solidFill>
                  <a:srgbClr val="1F2328"/>
                </a:solidFill>
                <a:latin typeface="Calibri"/>
              </a:rPr>
              <a:t>Elevator;</a:t>
            </a:r>
            <a:r>
              <a:rPr lang="en-US" sz="1500" b="1" i="0" dirty="0">
                <a:solidFill>
                  <a:srgbClr val="1F2328"/>
                </a:solidFill>
                <a:latin typeface="Calibri"/>
              </a:rPr>
              <a:t> and 2028 Mortgage</a:t>
            </a:r>
            <a:r>
              <a:rPr sz="1500" b="1" i="0" dirty="0">
                <a:solidFill>
                  <a:srgbClr val="1F2328"/>
                </a:solidFill>
                <a:latin typeface="Calibri"/>
              </a:rPr>
              <a:t> refi</a:t>
            </a:r>
            <a:r>
              <a:rPr lang="en-US" sz="1500" b="1" i="0" dirty="0">
                <a:solidFill>
                  <a:srgbClr val="1F2328"/>
                </a:solidFill>
                <a:latin typeface="Calibri"/>
              </a:rPr>
              <a:t>nancing</a:t>
            </a:r>
            <a:endParaRPr sz="1500" b="1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4892040"/>
            <a:ext cx="941832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1F2328"/>
                </a:solidFill>
                <a:latin typeface="Calibri"/>
              </a:rPr>
              <a:t>Elevator RFP this summer (</a:t>
            </a:r>
            <a:r>
              <a:rPr lang="en-US" sz="1150" b="0" i="0" dirty="0">
                <a:solidFill>
                  <a:srgbClr val="1F2328"/>
                </a:solidFill>
                <a:latin typeface="Calibri"/>
              </a:rPr>
              <a:t>up to </a:t>
            </a:r>
            <a:r>
              <a:rPr sz="1150" b="0" i="0" dirty="0">
                <a:solidFill>
                  <a:srgbClr val="1F2328"/>
                </a:solidFill>
                <a:latin typeface="Calibri"/>
              </a:rPr>
              <a:t>$500K in 2026 + $500K in 2027). Reserves dip to 92% of benchmark in 2027 then recover. The 2028 mortgage refi is the larger structural variable — we'll come back </a:t>
            </a:r>
            <a:r>
              <a:rPr lang="en-US" sz="1150" b="0" i="0" dirty="0">
                <a:solidFill>
                  <a:srgbClr val="1F2328"/>
                </a:solidFill>
                <a:latin typeface="Calibri"/>
              </a:rPr>
              <a:t>to </a:t>
            </a:r>
            <a:r>
              <a:rPr sz="1150" b="0" i="0" dirty="0">
                <a:solidFill>
                  <a:srgbClr val="1F2328"/>
                </a:solidFill>
                <a:latin typeface="Calibri"/>
              </a:rPr>
              <a:t>it in 2027</a:t>
            </a:r>
            <a:r>
              <a:rPr lang="en-US" sz="1150" dirty="0">
                <a:solidFill>
                  <a:srgbClr val="1F2328"/>
                </a:solidFill>
                <a:latin typeface="Calibri"/>
              </a:rPr>
              <a:t> and will likely impact the annual operating budget rather than the reserves or capital contribution. </a:t>
            </a:r>
            <a:endParaRPr sz="1150" b="0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5A8C"/>
                </a:solidFill>
                <a:latin typeface="Georgia"/>
              </a:rPr>
              <a:t>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treasurer@34plaza.com  ·  Backup detail in the 2026 Budget and 2025 Audited Financial Statements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976</Words>
  <Application>Microsoft Macintosh PowerPoint</Application>
  <PresentationFormat>Widescreen</PresentationFormat>
  <Paragraphs>147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hannah wilson</cp:lastModifiedBy>
  <cp:revision>6</cp:revision>
  <dcterms:created xsi:type="dcterms:W3CDTF">2013-01-27T09:14:16Z</dcterms:created>
  <dcterms:modified xsi:type="dcterms:W3CDTF">2026-05-27T01:23:00Z</dcterms:modified>
  <cp:category/>
</cp:coreProperties>
</file>